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70" r:id="rId6"/>
    <p:sldId id="258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55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developers who will bring their own agent into this workflow. The deck follows docs/using-oci-agent-skills.md.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in one sentence: you keep ownership of the container and its code, OCI owns the runtime. Point out that this deck's release flow uses the public endpoint and no auth; the other options exist and are set on the application.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command reference if there is time: docs.oracle.com, OCI CLI, generative-ai. Note the split between a resource group (get, create) and its collection group (list). Every create returns a work request; --wait-for-state SUCCEEDED blocks until it completes.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calls top to bottom. The point is that the CLI surface is small: an application, a deployment, and reads. Everything the skills add is guard rails around these calls, plus the local build and the OCIR push that come before.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Part 1 explained what OCI provides; Part 2 explains how this repository drives it from Codex.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skill is a directory with SKILL.md plus shared scripts in scripts/. Codex discovers them through the .agents/skills symlink when the repo is the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split is what makes the skills generic: two agents in the same checkout share .env, each has its own agent.yaml, and every release is an explicit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file demos/hello_world/agent.yaml. Point out that the version is absent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AI agents to OCI Enterprise AI with Codex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guide to four Codex skills and the release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5193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oci-agent-build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78308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143" y="35193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oci-agent-push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01752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583" y="3519343"/>
            <a:ext cx="294803" cy="29480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oci-agent-deploy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251960" y="338328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023" y="351934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023360" y="40050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oci-agent-verify-deployment</a:t>
            </a:r>
            <a:endParaRPr lang="en-US" sz="75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Luigi Saetta, Applied AI </a:t>
            </a:r>
            <a:r>
              <a:rPr lang="en-US" sz="900" dirty="0" err="1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Emea</a:t>
            </a:r>
            <a:r>
              <a:rPr lang="en-US" sz="900" dirty="0">
                <a:solidFill>
                  <a:srgbClr val="D9DEE5"/>
                </a:solidFill>
                <a:latin typeface="Calibri" pitchFamily="34" charset="0"/>
                <a:cs typeface="Calibri" pitchFamily="34" charset="-120"/>
              </a:rPr>
              <a:t>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Hosted Application gives you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120700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</a:t>
            </a:r>
            <a:endParaRPr lang="en-US" sz="1300" dirty="0"/>
          </a:p>
        </p:txBody>
      </p:sp>
      <p:sp>
        <p:nvSpPr>
          <p:cNvPr id="7" name="Text 7"/>
          <p:cNvSpPr txBox="1"/>
          <p:nvPr/>
        </p:nvSpPr>
        <p:spPr>
          <a:xfrm>
            <a:off x="64008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VMs and no Kubernetes cluster to run. You hand over an image; OCI schedules, restarts and replaces the containers.</a:t>
            </a:r>
            <a:endParaRPr lang="en-US" sz="1050" dirty="0"/>
          </a:p>
        </p:txBody>
      </p:sp>
      <p:sp>
        <p:nvSpPr>
          <p:cNvPr id="8" name="Shape 8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81328"/>
            <a:ext cx="237744" cy="237744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404164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networking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347472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endpoint by default, or a private endpoint in your VCN. Outbound traffic Oracle-managed or routed through your subnet.</a:t>
            </a:r>
            <a:endParaRPr lang="en-US" sz="1050" dirty="0"/>
          </a:p>
        </p:txBody>
      </p:sp>
      <p:sp>
        <p:nvSpPr>
          <p:cNvPr id="13" name="Shape 13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81328"/>
            <a:ext cx="237744" cy="237744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6876288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at the edge</a:t>
            </a:r>
            <a:endParaRPr lang="en-US" sz="1300" dirty="0"/>
          </a:p>
        </p:txBody>
      </p:sp>
      <p:sp>
        <p:nvSpPr>
          <p:cNvPr id="17" name="Text 17"/>
          <p:cNvSpPr txBox="1"/>
          <p:nvPr/>
        </p:nvSpPr>
        <p:spPr>
          <a:xfrm>
            <a:off x="6309360" y="19385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with an OCI identity domain, or no auth for open demos, enforced before a request reaches the container.</a:t>
            </a:r>
            <a:endParaRPr lang="en-US" sz="1050" dirty="0"/>
          </a:p>
        </p:txBody>
      </p:sp>
      <p:sp>
        <p:nvSpPr>
          <p:cNvPr id="18" name="Shape 18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64408"/>
            <a:ext cx="237744" cy="237744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120700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300" dirty="0"/>
          </a:p>
        </p:txBody>
      </p:sp>
      <p:sp>
        <p:nvSpPr>
          <p:cNvPr id="22" name="Text 22"/>
          <p:cNvSpPr txBox="1"/>
          <p:nvPr/>
        </p:nvSpPr>
        <p:spPr>
          <a:xfrm>
            <a:off x="64008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 replicas, scaled on concurrent requests, requests per second, CPU or memory utilisation.</a:t>
            </a:r>
            <a:endParaRPr lang="en-US" sz="1050" dirty="0"/>
          </a:p>
        </p:txBody>
      </p:sp>
      <p:sp>
        <p:nvSpPr>
          <p:cNvPr id="23" name="Shape 23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64408"/>
            <a:ext cx="237744" cy="237744"/>
          </a:xfrm>
          <a:prstGeom prst="rect">
            <a:avLst/>
          </a:prstGeom>
        </p:spPr>
      </p:pic>
      <p:sp>
        <p:nvSpPr>
          <p:cNvPr id="26" name="Text 26"/>
          <p:cNvSpPr txBox="1"/>
          <p:nvPr/>
        </p:nvSpPr>
        <p:spPr>
          <a:xfrm>
            <a:off x="404164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releases</a:t>
            </a:r>
            <a:endParaRPr lang="en-US" sz="1300" dirty="0"/>
          </a:p>
        </p:txBody>
      </p:sp>
      <p:sp>
        <p:nvSpPr>
          <p:cNvPr id="27" name="Text 27"/>
          <p:cNvSpPr txBox="1"/>
          <p:nvPr/>
        </p:nvSpPr>
        <p:spPr>
          <a:xfrm>
            <a:off x="347472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is one image tag. Roll forward by activating a new deployment; earlier ones stay, inactive.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64408"/>
            <a:ext cx="237744" cy="237744"/>
          </a:xfrm>
          <a:prstGeom prst="rect">
            <a:avLst/>
          </a:prstGeom>
        </p:spPr>
      </p:pic>
      <p:sp>
        <p:nvSpPr>
          <p:cNvPr id="31" name="Text 31"/>
          <p:cNvSpPr txBox="1"/>
          <p:nvPr/>
        </p:nvSpPr>
        <p:spPr>
          <a:xfrm>
            <a:off x="6876288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secrets</a:t>
            </a:r>
            <a:endParaRPr lang="en-US" sz="1300" dirty="0"/>
          </a:p>
        </p:txBody>
      </p:sp>
      <p:sp>
        <p:nvSpPr>
          <p:cNvPr id="32" name="Text 32"/>
          <p:cNvSpPr txBox="1"/>
          <p:nvPr/>
        </p:nvSpPr>
        <p:spPr>
          <a:xfrm>
            <a:off x="630936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variables injected as plain text or read from OCI Vault. Optional managed PostgreSQL, OCI Cache or Autonomous Database.</a:t>
            </a:r>
            <a:endParaRPr lang="en-US" sz="1050" dirty="0"/>
          </a:p>
        </p:txBody>
      </p:sp>
      <p:sp>
        <p:nvSpPr>
          <p:cNvPr id="33" name="Text 3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Server-Sent Events and WebSocket are all supported, so agents can stream responses. Source: OCI documentation, Hosted Applications.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OCI CLI surface: oci generative-ai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640080" y="13030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390802"/>
            <a:ext cx="190195" cy="19019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118872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hosted-application</a:t>
            </a:r>
            <a:endParaRPr lang="en-US" sz="1050" dirty="0"/>
          </a:p>
        </p:txBody>
      </p:sp>
      <p:sp>
        <p:nvSpPr>
          <p:cNvPr id="7" name="Text 7"/>
          <p:cNvSpPr txBox="1"/>
          <p:nvPr/>
        </p:nvSpPr>
        <p:spPr>
          <a:xfrm>
            <a:off x="3749040" y="11887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· get · update · delete · change-compartment</a:t>
            </a:r>
            <a:endParaRPr lang="en-US" sz="850" dirty="0"/>
          </a:p>
        </p:txBody>
      </p:sp>
      <p:sp>
        <p:nvSpPr>
          <p:cNvPr id="8" name="Text 8"/>
          <p:cNvSpPr txBox="1"/>
          <p:nvPr/>
        </p:nvSpPr>
        <p:spPr>
          <a:xfrm>
            <a:off x="708660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itself: auth, networking, environment variables</a:t>
            </a:r>
            <a:endParaRPr lang="en-US" sz="900" dirty="0"/>
          </a:p>
        </p:txBody>
      </p:sp>
      <p:sp>
        <p:nvSpPr>
          <p:cNvPr id="9" name="Shape 9"/>
          <p:cNvSpPr/>
          <p:nvPr/>
        </p:nvSpPr>
        <p:spPr>
          <a:xfrm>
            <a:off x="457200" y="18745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40080" y="19888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2076602"/>
            <a:ext cx="190195" cy="190195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18872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hosted-application-collection</a:t>
            </a:r>
            <a:endParaRPr lang="en-US" sz="1050" dirty="0"/>
          </a:p>
        </p:txBody>
      </p:sp>
      <p:sp>
        <p:nvSpPr>
          <p:cNvPr id="13" name="Text 13"/>
          <p:cNvSpPr txBox="1"/>
          <p:nvPr/>
        </p:nvSpPr>
        <p:spPr>
          <a:xfrm>
            <a:off x="374904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list-hosted-applications</a:t>
            </a:r>
            <a:endParaRPr lang="en-US" sz="850" dirty="0"/>
          </a:p>
        </p:txBody>
      </p:sp>
      <p:sp>
        <p:nvSpPr>
          <p:cNvPr id="14" name="Text 14"/>
          <p:cNvSpPr txBox="1"/>
          <p:nvPr/>
        </p:nvSpPr>
        <p:spPr>
          <a:xfrm>
            <a:off x="7086600" y="1874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applications by compartment and display name</a:t>
            </a:r>
            <a:endParaRPr lang="en-US" sz="900" dirty="0"/>
          </a:p>
        </p:txBody>
      </p:sp>
      <p:sp>
        <p:nvSpPr>
          <p:cNvPr id="15" name="Shape 15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640080" y="26746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2762402"/>
            <a:ext cx="190195" cy="190195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188720" y="2560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hosted-deployment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3749040" y="2560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create-hosted-deployment-single-docker-artifact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update · delete</a:t>
            </a:r>
            <a:endParaRPr lang="en-US" sz="850" dirty="0"/>
          </a:p>
        </p:txBody>
      </p:sp>
      <p:sp>
        <p:nvSpPr>
          <p:cNvPr id="20" name="Text 20"/>
          <p:cNvSpPr txBox="1"/>
          <p:nvPr/>
        </p:nvSpPr>
        <p:spPr>
          <a:xfrm>
            <a:off x="7086600" y="2560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release: image URI and tag under an application</a:t>
            </a:r>
            <a:endParaRPr lang="en-US" sz="900" dirty="0"/>
          </a:p>
        </p:txBody>
      </p:sp>
      <p:sp>
        <p:nvSpPr>
          <p:cNvPr id="21" name="Shape 21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40080" y="33604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" y="3448202"/>
            <a:ext cx="190195" cy="190195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1887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hosted-deployment-collection</a:t>
            </a:r>
            <a:endParaRPr lang="en-US" sz="1050" dirty="0"/>
          </a:p>
        </p:txBody>
      </p:sp>
      <p:sp>
        <p:nvSpPr>
          <p:cNvPr id="25" name="Text 25"/>
          <p:cNvSpPr txBox="1"/>
          <p:nvPr/>
        </p:nvSpPr>
        <p:spPr>
          <a:xfrm>
            <a:off x="3749040" y="32461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list-hosted-deployments</a:t>
            </a:r>
            <a:endParaRPr lang="en-US" sz="850" dirty="0"/>
          </a:p>
        </p:txBody>
      </p:sp>
      <p:sp>
        <p:nvSpPr>
          <p:cNvPr id="26" name="Text 26"/>
          <p:cNvSpPr txBox="1"/>
          <p:nvPr/>
        </p:nvSpPr>
        <p:spPr>
          <a:xfrm>
            <a:off x="7086600" y="3246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 and active artifact, filtered by application</a:t>
            </a:r>
            <a:endParaRPr lang="en-US" sz="900" dirty="0"/>
          </a:p>
        </p:txBody>
      </p:sp>
      <p:sp>
        <p:nvSpPr>
          <p:cNvPr id="27" name="Shape 27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640080" y="4046220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" y="4134002"/>
            <a:ext cx="190195" cy="190195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118872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work-request</a:t>
            </a:r>
            <a:endParaRPr lang="en-US" sz="1050" dirty="0"/>
          </a:p>
        </p:txBody>
      </p:sp>
      <p:sp>
        <p:nvSpPr>
          <p:cNvPr id="31" name="Text 31"/>
          <p:cNvSpPr txBox="1"/>
          <p:nvPr/>
        </p:nvSpPr>
        <p:spPr>
          <a:xfrm>
            <a:off x="374904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list · list-work-request-logs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work-request-error list</a:t>
            </a:r>
            <a:endParaRPr lang="en-US" sz="850" dirty="0"/>
          </a:p>
        </p:txBody>
      </p:sp>
      <p:sp>
        <p:nvSpPr>
          <p:cNvPr id="32" name="Text 32"/>
          <p:cNvSpPr txBox="1"/>
          <p:nvPr/>
        </p:nvSpPr>
        <p:spPr>
          <a:xfrm>
            <a:off x="7086600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operations; --wait-for-state polls them for you</a:t>
            </a:r>
            <a:endParaRPr lang="en-US" sz="900" dirty="0"/>
          </a:p>
        </p:txBody>
      </p:sp>
      <p:sp>
        <p:nvSpPr>
          <p:cNvPr id="33" name="Text 3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safe to repeat; create, update and delete are mutations. The same operations exist in the Console, the SDKs and Terraform. The Part 2 skills wrap exactly these CLI calls.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release, end to end, in four CLI calls</a:t>
            </a:r>
            <a:endParaRPr lang="en-US" sz="2800" dirty="0"/>
          </a:p>
        </p:txBody>
      </p:sp>
      <p:sp>
        <p:nvSpPr>
          <p:cNvPr id="3" name="Shape 3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21792" y="1298448"/>
            <a:ext cx="4608576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resolve the compartment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iam compartment list --name "$OCI_COMPARTMENT_NAME"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--compartment-id-in-subtree true --all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the application, once per agent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hosted-application create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--display-name hello-world --compartment-id "$CID"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--inbound-auth-config '{"inboundAuthConfigType":"NO_AUTH_CONFIG"}'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--networking-config '{"inboundNetworkingConfig":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{"endpointMode":"PUBLIC"},"outboundNetworkingConfig":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{"networkMode":"MANAGED"}}'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--environment-variables "$ENV_JSON" --wait-for-state SUCCEEDED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create and activate a release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hosted-deployment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create-hosted-deployment-single-docker-artifact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--hosted-application-id "$APP_ID"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--active-artifact-container-uri "$REGISTRY/agents/hello-world"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--active-artifact-tag 0.4.0 --display-name hello-world-0.4.0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--compartment-id "$CID" --wait-for-state SUCCEEDED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inspect the result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generative-ai hosted-deployment-collection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list-hosted-deployments --compartment-id "$CID"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--application-id "$APP_ID"</a:t>
            </a:r>
            <a:endParaRPr lang="en-US" sz="800" dirty="0"/>
          </a:p>
        </p:txBody>
      </p:sp>
      <p:sp>
        <p:nvSpPr>
          <p:cNvPr id="5" name="Shape 5"/>
          <p:cNvSpPr/>
          <p:nvPr/>
        </p:nvSpPr>
        <p:spPr>
          <a:xfrm>
            <a:off x="5669280" y="123444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7"/>
          <p:cNvSpPr txBox="1"/>
          <p:nvPr/>
        </p:nvSpPr>
        <p:spPr>
          <a:xfrm>
            <a:off x="612648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Compartment</a:t>
            </a:r>
            <a:endParaRPr lang="en-US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compartment. Its name is resolved to an OCID with a filtered list query.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5669280" y="210312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56692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612648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once per agent. Authentication, networking and runtime variables are set here, not on the release.</a:t>
            </a:r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5669280" y="297180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56692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carries image URI and tag. The work request runs until the deployment is ACTIVE and serving.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5669280" y="384048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566928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9"/>
          <p:cNvSpPr txBox="1"/>
          <p:nvPr/>
        </p:nvSpPr>
        <p:spPr>
          <a:xfrm>
            <a:off x="612648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Inspect, then invoke</a:t>
            </a:r>
            <a:endParaRPr lang="en-US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61264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deployments to read state and active artifact, then GET /health on the invoke endpoint.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oci-agent-deploy skill in Part 2 runs these same calls, with a read-only plan first, --apply as an explicit gate, and no secrets on the command line.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concepts to practice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Codex skills: from container to verified release</a:t>
            </a:r>
            <a:endParaRPr lang="en-US" sz="3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 wrap the CLI calls you just saw, add the local build and the OCIR push, and put an explicit approval in front of every remote change.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292608" cy="292608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32004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oci-agent-build</a:t>
            </a:r>
            <a:endParaRPr lang="en-US" sz="750" dirty="0"/>
          </a:p>
        </p:txBody>
      </p:sp>
      <p:sp>
        <p:nvSpPr>
          <p:cNvPr id="8" name="Shape 8"/>
          <p:cNvSpPr/>
          <p:nvPr/>
        </p:nvSpPr>
        <p:spPr>
          <a:xfrm>
            <a:off x="178308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703320"/>
            <a:ext cx="292608" cy="292608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55448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oci-agent-push</a:t>
            </a:r>
            <a:endParaRPr lang="en-US" sz="750" dirty="0"/>
          </a:p>
        </p:txBody>
      </p:sp>
      <p:sp>
        <p:nvSpPr>
          <p:cNvPr id="11" name="Shape 11"/>
          <p:cNvSpPr/>
          <p:nvPr/>
        </p:nvSpPr>
        <p:spPr>
          <a:xfrm>
            <a:off x="301752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703320"/>
            <a:ext cx="292608" cy="292608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278892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oci-agent-deploy</a:t>
            </a:r>
            <a:endParaRPr lang="en-US" sz="750" dirty="0"/>
          </a:p>
        </p:txBody>
      </p:sp>
      <p:sp>
        <p:nvSpPr>
          <p:cNvPr id="14" name="Shape 14"/>
          <p:cNvSpPr/>
          <p:nvPr/>
        </p:nvSpPr>
        <p:spPr>
          <a:xfrm>
            <a:off x="4251960" y="3566160"/>
            <a:ext cx="566928" cy="566928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703320"/>
            <a:ext cx="292608" cy="292608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4023360" y="4187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oci-agent-verify-deployment</a:t>
            </a:r>
            <a:endParaRPr lang="en-US" sz="750" dirty="0"/>
          </a:p>
        </p:txBody>
      </p:sp>
      <p:sp>
        <p:nvSpPr>
          <p:cNvPr id="17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follows docs/using-oci-agent-skills.md: platform rules, the four skills, the manifest, verification and approval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release, four skills, in this order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1417320"/>
            <a:ext cx="6309360" cy="0"/>
          </a:xfrm>
          <a:prstGeom prst="line">
            <a:avLst/>
          </a:prstGeom>
          <a:noFill/>
          <a:ln w="254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83" y="12841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$oci-agent-build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verify locally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linux/amd64 with buildx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container read-only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/health, /ready and the manifest checks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local Docker only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440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303" y="1284183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7004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$oci-agent-push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267004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OCIR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72491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registry from OCI_REGION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missing private repository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pushes, then reports the digest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67004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writes, each approved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36752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423" y="1284183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7316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$oci-agent-deploy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477316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then deploy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82803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plan first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Hosted Application and Deployment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only a compatible ACTIVE application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77316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creation with --apply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66560" y="141732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70648" y="1161288"/>
            <a:ext cx="512064" cy="51206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543" y="1284183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76288" y="17830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$oci-agent-verify-deployment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6876288" y="20574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release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931152" y="2514600"/>
            <a:ext cx="1627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one deployment ACTIVE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artifact tag equals the release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health and ready on the public endpoint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876288" y="40690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OCI, public GETs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build is not proof of a push; a successful push is not proof that OCI can run the image. Never skip a step.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inputs, three lifecycles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487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584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(tenancy)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261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OCI_REGION, OCI_COMPARTMENT_NAME, OCIR_TENANCY_NAMESPACE, OCIR_USERNAME. Non-secret values only, ignored by git.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when you switch tenancy or region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2631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3728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194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agent.yaml  (agent)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1762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context, Dockerfile, OCIR repository, application name, profile, runtime variables, functional checks. Lives next to the code.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when the agent contract changes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2872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3108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  (release)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291840" y="3090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explicit semantic version per release. Never stored in a file, never inferred, never latest.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 every release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to Codex looks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621792" y="4270248"/>
            <a:ext cx="7900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$oci-agent-build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/abs/path/demos/hello_world/agent.yaml tag: 0.4.0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enter any of the three. OCI CLI and Docker authentication are configured outside the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manifest: everything that is not generic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21792" y="1298448"/>
            <a:ext cx="3877056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dockerfile: demos/hello_world/Dockerfile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repository: agents/hello-world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application_name: hello-world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profile: public-noauth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LOG_LEVEL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INFO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method: POST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/hello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{ name: Luigi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expect_status: 200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expect_json: { message: Hello Luigi }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37760" y="123444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93776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Dockerfile, relative to the repository root. The context is the repo root when the app is a Python package.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210312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below the tenancy namespace. The registry host comes from OCI_REGION, never from the manifest.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 and profile. The deployment name is derived as &lt;application&gt;-&lt;tag&gt;.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310896" cy="310896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checks only. /health and /ready are platform probes and are always checked.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validated by scripts/agent_manifest.py before any Docker or OCI call. Unknown keys are rejected. Spec 006.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1515</Words>
  <Application>Microsoft Macintosh PowerPoint</Application>
  <PresentationFormat>On-screen Show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Shipping AI agents to OCI Enterprise AI with Codex</dc:title>
  <dc:subject>PptxGenJS Presentation</dc:subject>
  <dc:creator>L. Saetta</dc:creator>
  <cp:lastModifiedBy>Luigi Saetta</cp:lastModifiedBy>
  <cp:revision>8</cp:revision>
  <dcterms:created xsi:type="dcterms:W3CDTF">2026-09-23T12:27:55Z</dcterms:created>
  <dcterms:modified xsi:type="dcterms:W3CDTF">2026-09-24T06:31:02Z</dcterms:modified>
</cp:coreProperties>
</file>